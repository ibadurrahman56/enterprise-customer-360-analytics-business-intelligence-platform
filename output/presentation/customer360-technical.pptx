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a8bd054def45de" /><Relationship Type="http://schemas.openxmlformats.org/officeDocument/2006/relationships/extended-properties" Target="/docProps/app.xml" Id="R521dca4585c842d7" /><Relationship Type="http://schemas.openxmlformats.org/officeDocument/2006/relationships/officeDocument" Target="/ppt/presentation.xml" Id="Re2a3717bb2674e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159b3930b14292"/>
  </p:sldMasterIdLst>
  <p:notesMasterIdLst>
    <p:notesMasterId xmlns:r="http://schemas.openxmlformats.org/officeDocument/2006/relationships" r:id="R7e236c1343814120"/>
  </p:notesMasterIdLst>
  <p:sldIdLst>
    <p:sldId xmlns:r="http://schemas.openxmlformats.org/officeDocument/2006/relationships" id="256" r:id="R6e7f60b28c6d4448"/>
    <p:sldId xmlns:r="http://schemas.openxmlformats.org/officeDocument/2006/relationships" id="257" r:id="Rbc74b69c985b4c00"/>
    <p:sldId xmlns:r="http://schemas.openxmlformats.org/officeDocument/2006/relationships" id="258" r:id="Rd09e234389ac4b12"/>
    <p:sldId xmlns:r="http://schemas.openxmlformats.org/officeDocument/2006/relationships" id="259" r:id="Rc7aa83bbfeb74800"/>
    <p:sldId xmlns:r="http://schemas.openxmlformats.org/officeDocument/2006/relationships" id="260" r:id="R3c694424c35f489f"/>
    <p:sldId xmlns:r="http://schemas.openxmlformats.org/officeDocument/2006/relationships" id="261" r:id="R6bb43d96c33844a7"/>
    <p:sldId xmlns:r="http://schemas.openxmlformats.org/officeDocument/2006/relationships" id="262" r:id="R5c748228d604488b"/>
    <p:sldId xmlns:r="http://schemas.openxmlformats.org/officeDocument/2006/relationships" id="263" r:id="R33058a1d74dc4627"/>
    <p:sldId xmlns:r="http://schemas.openxmlformats.org/officeDocument/2006/relationships" id="264" r:id="R09b8bbac62b847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f98a6efcab4e31" /><Relationship Type="http://schemas.openxmlformats.org/officeDocument/2006/relationships/slideMaster" Target="/ppt/slideMasters/slideMaster1.xml" Id="R36159b3930b14292" /><Relationship Type="http://schemas.openxmlformats.org/officeDocument/2006/relationships/notesMaster" Target="/ppt/notesMasters/notesMaster1.xml" Id="R7e236c1343814120" /><Relationship Type="http://schemas.openxmlformats.org/officeDocument/2006/relationships/presProps" Target="/ppt/presProps.xml" Id="Rdc552cf442c34783" /><Relationship Type="http://schemas.openxmlformats.org/officeDocument/2006/relationships/tableStyles" Target="/ppt/tableStyles.xml" Id="R8194095ee16841f8" /><Relationship Type="http://schemas.openxmlformats.org/officeDocument/2006/relationships/slide" Target="/ppt/slides/slide1.xml" Id="R6e7f60b28c6d4448" /><Relationship Type="http://schemas.openxmlformats.org/officeDocument/2006/relationships/slide" Target="/ppt/slides/slide2.xml" Id="Rbc74b69c985b4c00" /><Relationship Type="http://schemas.openxmlformats.org/officeDocument/2006/relationships/slide" Target="/ppt/slides/slide3.xml" Id="Rd09e234389ac4b12" /><Relationship Type="http://schemas.openxmlformats.org/officeDocument/2006/relationships/slide" Target="/ppt/slides/slide4.xml" Id="Rc7aa83bbfeb74800" /><Relationship Type="http://schemas.openxmlformats.org/officeDocument/2006/relationships/slide" Target="/ppt/slides/slide5.xml" Id="R3c694424c35f489f" /><Relationship Type="http://schemas.openxmlformats.org/officeDocument/2006/relationships/slide" Target="/ppt/slides/slide6.xml" Id="R6bb43d96c33844a7" /><Relationship Type="http://schemas.openxmlformats.org/officeDocument/2006/relationships/slide" Target="/ppt/slides/slide7.xml" Id="R5c748228d604488b" /><Relationship Type="http://schemas.openxmlformats.org/officeDocument/2006/relationships/slide" Target="/ppt/slides/slide8.xml" Id="R33058a1d74dc4627" /><Relationship Type="http://schemas.openxmlformats.org/officeDocument/2006/relationships/slide" Target="/ppt/slides/slide9.xml" Id="R09b8bbac62b847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b550203bda4a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94735abcbe4caa" /><Relationship Type="http://schemas.openxmlformats.org/officeDocument/2006/relationships/notesMaster" Target="/ppt/notesMasters/notesMaster1.xml" Id="R8eaaa763562945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bc2ad952804dc9" /><Relationship Type="http://schemas.openxmlformats.org/officeDocument/2006/relationships/notesMaster" Target="/ppt/notesMasters/notesMaster1.xml" Id="R977f4d8032174f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88e48f1b8143a9" /><Relationship Type="http://schemas.openxmlformats.org/officeDocument/2006/relationships/notesMaster" Target="/ppt/notesMasters/notesMaster1.xml" Id="Re6ddde4a2bc440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b8fb90cab64c5c" /><Relationship Type="http://schemas.openxmlformats.org/officeDocument/2006/relationships/notesMaster" Target="/ppt/notesMasters/notesMaster1.xml" Id="Rba3e548913d54c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dcf6d50f624503" /><Relationship Type="http://schemas.openxmlformats.org/officeDocument/2006/relationships/notesMaster" Target="/ppt/notesMasters/notesMaster1.xml" Id="Rcba646b64de847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9a98fa3c174ab6" /><Relationship Type="http://schemas.openxmlformats.org/officeDocument/2006/relationships/notesMaster" Target="/ppt/notesMasters/notesMaster1.xml" Id="Rc9aa903e0b2f44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a81d45207a4ea8" /><Relationship Type="http://schemas.openxmlformats.org/officeDocument/2006/relationships/notesMaster" Target="/ppt/notesMasters/notesMaster1.xml" Id="Rfa3c95614ce142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15703fe5694eb1" /><Relationship Type="http://schemas.openxmlformats.org/officeDocument/2006/relationships/notesMaster" Target="/ppt/notesMasters/notesMaster1.xml" Id="R3e11009dd4d640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5295e5b6444be7" /><Relationship Type="http://schemas.openxmlformats.org/officeDocument/2006/relationships/notesMaster" Target="/ppt/notesMasters/notesMaster1.xml" Id="Rcce367e6f37a49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case study is implemented as a local Python/Streamlit project. The demo uses fictional data and does not claim enterprise deployment or measured 500-million-record capacity.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Case Study – DS-001.pdf; project source code and docs; output/demo-evidence.json, generated from DuckDB run de1471aaca31. All business measures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Case Study – DS-001.pdf; project source code and docs; output/demo-evidence.json, generated from DuckDB run de1471aaca31. All business measures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Case Study – DS-001.pdf; project source code and docs; output/demo-evidence.json, generated from DuckDB run de1471aaca31. All business measures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Case Study – DS-001.pdf; project source code and docs; output/demo-evidence.json, generated from DuckDB run de1471aaca31. All business measures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Case Study – DS-001.pdf; project source code and docs; output/demo-evidence.json, generated from DuckDB run de1471aaca31. All business measures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Case Study – DS-001.pdf; project source code and docs; output/demo-evidence.json, generated from DuckDB run de1471aaca31. All business measures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Case Study – DS-001.pdf; project source code and docs; output/demo-evidence.json, generated from DuckDB run de1471aaca31. All business measures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Case Study – DS-001.pdf; project source code and docs; output/demo-evidence.json, generated from DuckDB run de1471aaca31. All business measures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34ff42aab64c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1b80df6f864f8b" /><Relationship Type="http://schemas.openxmlformats.org/officeDocument/2006/relationships/slideLayout" Target="/ppt/slideLayouts/slideLayout1.xml" Id="Re56e5bab0f2645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6e5bab0f2645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0ab4fc52747d1" /><Relationship Type="http://schemas.openxmlformats.org/officeDocument/2006/relationships/notesSlide" Target="/ppt/notesSlides/notesSlide1.xml" Id="R278eadfa8dda42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eead9ba8647e1" /><Relationship Type="http://schemas.openxmlformats.org/officeDocument/2006/relationships/notesSlide" Target="/ppt/notesSlides/notesSlide2.xml" Id="R31127c221ad84d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3063eb2b243df" /><Relationship Type="http://schemas.openxmlformats.org/officeDocument/2006/relationships/notesSlide" Target="/ppt/notesSlides/notesSlide3.xml" Id="R1a4e2eda412741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90702a8e64e15" /><Relationship Type="http://schemas.openxmlformats.org/officeDocument/2006/relationships/chart" Target="/ppt/slides/charts/chart1.xml" Id="Rb9e8e2000e9d4692" /><Relationship Type="http://schemas.openxmlformats.org/officeDocument/2006/relationships/notesSlide" Target="/ppt/notesSlides/notesSlide4.xml" Id="R05053e29b25e41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9a34e7ab8478f" /><Relationship Type="http://schemas.openxmlformats.org/officeDocument/2006/relationships/chart" Target="/ppt/slides/charts/chart2.xml" Id="R9d86e5b81a684ad0" /><Relationship Type="http://schemas.openxmlformats.org/officeDocument/2006/relationships/notesSlide" Target="/ppt/notesSlides/notesSlide5.xml" Id="R56cc3630c6154d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31a81a8cc4a47" /><Relationship Type="http://schemas.openxmlformats.org/officeDocument/2006/relationships/chart" Target="/ppt/slides/charts/chart3.xml" Id="R1b1389fffd19462d" /><Relationship Type="http://schemas.openxmlformats.org/officeDocument/2006/relationships/notesSlide" Target="/ppt/notesSlides/notesSlide6.xml" Id="R60fad110ed9c46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a3a926eb14f11" /><Relationship Type="http://schemas.openxmlformats.org/officeDocument/2006/relationships/notesSlide" Target="/ppt/notesSlides/notesSlide7.xml" Id="R19533c4e890f41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77eb6285e4387" /><Relationship Type="http://schemas.openxmlformats.org/officeDocument/2006/relationships/notesSlide" Target="/ppt/notesSlides/notesSlide8.xml" Id="R6ca967957e544b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93dae04534e19" /><Relationship Type="http://schemas.openxmlformats.org/officeDocument/2006/relationships/notesSlide" Target="/ppt/notesSlides/notesSlide9.xml" Id="Rdca1c3ae8046471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Orders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Data'!$A$2:$A$4</c:f>
              <c:strCache>
                <c:ptCount val="3"/>
                <c:pt idx="0">
                  <c:v>Duplicate rows</c:v>
                </c:pt>
                <c:pt idx="1">
                  <c:v>Invalid values</c:v>
                </c:pt>
                <c:pt idx="2">
                  <c:v>Integration rejects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20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Revenue (USD thousands)</c:v>
          </c:tx>
          <c:spPr>
            <a:solidFill xmlns:a="http://schemas.openxmlformats.org/drawingml/2006/main">
              <a:srgbClr val="087F8C"/>
            </a:solidFill>
          </c:spPr>
          <c:marker>
            <c:symbol val="none"/>
          </c:marker>
          <c:cat>
            <c:strRef>
              <c:f>'Chart Data'!$A$2:$A$13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226</c:v>
                </c:pt>
                <c:pt idx="1">
                  <c:v>264</c:v>
                </c:pt>
                <c:pt idx="2">
                  <c:v>261</c:v>
                </c:pt>
                <c:pt idx="3">
                  <c:v>289</c:v>
                </c:pt>
                <c:pt idx="4">
                  <c:v>319</c:v>
                </c:pt>
                <c:pt idx="5">
                  <c:v>328</c:v>
                </c:pt>
                <c:pt idx="6">
                  <c:v>390</c:v>
                </c:pt>
                <c:pt idx="7">
                  <c:v>418</c:v>
                </c:pt>
                <c:pt idx="8">
                  <c:v>513</c:v>
                </c:pt>
                <c:pt idx="9">
                  <c:v>486</c:v>
                </c:pt>
                <c:pt idx="10">
                  <c:v>517</c:v>
                </c:pt>
                <c:pt idx="11">
                  <c:v>528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Customers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Data'!$A$2:$A$5</c:f>
              <c:strCache>
                <c:ptCount val="4"/>
                <c:pt idx="0">
                  <c:v>Champions</c:v>
                </c:pt>
                <c:pt idx="1">
                  <c:v>Loyal</c:v>
                </c:pt>
                <c:pt idx="2">
                  <c:v>At risk</c:v>
                </c:pt>
                <c:pt idx="3">
                  <c:v>Developing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651</c:v>
                </c:pt>
                <c:pt idx="1">
                  <c:v>876</c:v>
                </c:pt>
                <c:pt idx="2">
                  <c:v>264</c:v>
                </c:pt>
                <c:pt idx="3">
                  <c:v>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31C23-FD5B-4EA4-86CC-46EE1FED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Customer 360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573E5-5715-42DE-AC12-E364B68A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B9DFE1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B9DFE1"/>
                </a:solidFill>
                <a:latin typeface="Arial"/>
                <a:ea typeface="Arial"/>
                <a:cs typeface="Arial"/>
              </a:rPr>
              <a:t>Analytics &amp; Business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75419-D324-45D1-8699-3D48C340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DS-001 technical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FABFC-3CD3-4135-97AF-05FF6F7B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DFE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9DFE1"/>
                </a:solidFill>
                <a:latin typeface="Arial"/>
                <a:ea typeface="Arial"/>
                <a:cs typeface="Arial"/>
              </a:rPr>
              <a:t>Reproducible synthetic-data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7485334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E0B57-9C10-4043-A18E-B7F7D357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A43"/>
                </a:solidFill>
                <a:latin typeface="Arial"/>
                <a:ea typeface="Arial"/>
                <a:cs typeface="Arial"/>
              </a:rPr>
              <a:t>Project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69A57-9A52-41EF-AB55-35AD5700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A runnable local platform with explicit production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9AADB-0382-4750-8975-C2FDE7A3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Customer 360  /  DS-001  /  Synthetic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75741-995D-4DDA-9B8D-BD60B344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94F1E-DEBD-46FB-A694-60B8958B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1,800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AFE76-4AA0-4169-AFDF-AD24609B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A43"/>
                </a:solidFill>
                <a:latin typeface="Arial"/>
                <a:ea typeface="Arial"/>
                <a:cs typeface="Arial"/>
              </a:rPr>
              <a:t>fictional customers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C7DB3-5E38-4CA6-B90A-C64A08B0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145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36,000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2D844-F22A-4FDE-A461-ACE4117A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19450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A43"/>
                </a:solidFill>
                <a:latin typeface="Arial"/>
                <a:ea typeface="Arial"/>
                <a:cs typeface="Arial"/>
              </a:rPr>
              <a:t>generated orders before quality defects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F82181-64A0-4CF9-82DE-F2858E95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A43"/>
                </a:solidFill>
                <a:latin typeface="Arial"/>
                <a:ea typeface="Arial"/>
                <a:cs typeface="Arial"/>
              </a:rPr>
              <a:t>48 branches in 8 countries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DFA6E-A6BB-4C6C-B8D5-B8252E9E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January 2024 to August 2026. Eleven source extracts.</a:t>
            </a:r>
          </a:p>
          <a:p xmlns:a="http://schemas.openxmlformats.org/drawingml/2006/main">
            <a:pPr>
              <a:defRPr sz="2025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The enterprise target remains a separate capacity acceptance test.</a:t>
            </a:r>
          </a:p>
        </p:txBody>
      </p:sp>
    </p:spTree>
    <p:extLst>
      <p:ext uri="{BB962C8B-B14F-4D97-AF65-F5344CB8AC3E}">
        <p14:creationId xmlns:p14="http://schemas.microsoft.com/office/powerpoint/2010/main" val="8670052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06FAD5-7361-4ABD-BB75-AC24576C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A43"/>
                </a:solidFill>
                <a:latin typeface="Arial"/>
                <a:ea typeface="Arial"/>
                <a:cs typeface="Arial"/>
              </a:rPr>
              <a:t>Data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0BCB2-5077-4C57-982A-F88B74FC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A complete source snapshot becomes a validated, traceable warehouse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E9D0A-200D-4721-AE82-346A6D79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Customer 360  /  DS-001  /  Synthetic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D47D6-8CFF-4CD4-A5C0-249793CE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916F9-9C73-4C88-940E-4A8876BC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C7B93-11E5-4A94-A7DC-A95AD584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4312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A43"/>
                </a:solidFill>
                <a:latin typeface="Arial"/>
                <a:ea typeface="Arial"/>
                <a:cs typeface="Arial"/>
              </a:rPr>
              <a:t>Canonical source contracts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35748-6E10-4682-BE19-6A075343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479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CRM, ERP, orders, payments, digital activity, support and campaigns.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0B49-2F1C-46A1-8197-EDF107AB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0358D-4389-4F1B-9E46-EE7CA873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813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A43"/>
                </a:solidFill>
                <a:latin typeface="Arial"/>
                <a:ea typeface="Arial"/>
                <a:cs typeface="Arial"/>
              </a:rPr>
              <a:t>Cleaning and reconciliation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2CF9E-27CC-47B9-B2FF-34AF55B2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86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Typed values, exact duplicates, conflicting IDs, dates, joins and payment checks.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F7B4D-94AC-45A4-A17F-415B0E59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F6F49-F0F5-4741-8944-FD10F15F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1962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A43"/>
                </a:solidFill>
                <a:latin typeface="Arial"/>
                <a:ea typeface="Arial"/>
                <a:cs typeface="Arial"/>
              </a:rPr>
              <a:t>Atomic publication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2E5FC3-1250-42C8-AE86-E2756026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244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DuckDB facts and dimensions publish only after a successful build.</a:t>
            </a:r>
          </a:p>
        </p:txBody>
      </p:sp>
    </p:spTree>
    <p:extLst>
      <p:ext uri="{BB962C8B-B14F-4D97-AF65-F5344CB8AC3E}">
        <p14:creationId xmlns:p14="http://schemas.microsoft.com/office/powerpoint/2010/main" val="18106722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0FAC0-3AE1-4B58-A94C-8CA62FDD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A43"/>
                </a:solidFill>
                <a:latin typeface="Arial"/>
                <a:ea typeface="Arial"/>
                <a:cs typeface="Arial"/>
              </a:rPr>
              <a:t>Data quality is observable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E2EC6-9D2E-471C-9937-6EFC8107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Deliberate order defects verify the handling of common source problems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D1A6E-5725-482F-8C1B-D0A15993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Customer 360  /  DS-001  /  Synthetic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35856-2AF2-438D-96CF-E123A159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62000" y="2286000"/>
          <a:ext xmlns:a="http://schemas.openxmlformats.org/drawingml/2006/main" cx="6953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e8e2000e9d469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85BD0-87B3-40F4-85E9-C485BA56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3190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A43"/>
                </a:solidFill>
                <a:latin typeface="Arial"/>
                <a:ea typeface="Arial"/>
                <a:cs typeface="Arial"/>
              </a:rPr>
              <a:t>Every source has row accounting and a SHA-256 fingerprint.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04BA8-5DC6-4F7C-812D-CC6477B4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319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Rejected records remain inspectable. A conflicting key fails the build.</a:t>
            </a:r>
          </a:p>
        </p:txBody>
      </p:sp>
    </p:spTree>
    <p:extLst>
      <p:ext uri="{BB962C8B-B14F-4D97-AF65-F5344CB8AC3E}">
        <p14:creationId xmlns:p14="http://schemas.microsoft.com/office/powerpoint/2010/main" val="19408323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75465-A733-422F-B555-EB2F0118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A43"/>
                </a:solidFill>
                <a:latin typeface="Arial"/>
                <a:ea typeface="Arial"/>
                <a:cs typeface="Arial"/>
              </a:rPr>
              <a:t>Revenue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E44F8-D4C2-4E6A-8340-B5944634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September 2025 to August 2026, all countries and sales channels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D6684-C7D4-4F98-A53A-5708FFD6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Customer 360  /  DS-001  /  Synthetic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CF809-F2ED-4F9C-8E53-1D3CF7ED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E91A7-D6D9-4AF6-B350-6692260A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5742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$4.54M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E08B0-4BB0-45CF-BD5F-A801A465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A43"/>
                </a:solidFill>
                <a:latin typeface="Arial"/>
                <a:ea typeface="Arial"/>
                <a:cs typeface="Arial"/>
              </a:rPr>
              <a:t>synthetic net sales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28BE7-792A-4484-A956-8EE2FAC1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1,789 buyers</a:t>
            </a:r>
          </a:p>
          <a:p xmlns:a="http://schemas.openxmlformats.org/drawingml/2006/main">
            <a:pPr>
              <a:defRPr sz="2100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40.5% gross margin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095750" y="2171700"/>
          <a:ext xmlns:a="http://schemas.openxmlformats.org/drawingml/2006/main" cx="7429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86e5b81a684ad0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B9DAB-02F1-45C9-8D3C-A7B8305A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007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Monthly revenue, rounded USD thousands</a:t>
            </a:r>
          </a:p>
        </p:txBody>
      </p:sp>
    </p:spTree>
    <p:extLst>
      <p:ext uri="{BB962C8B-B14F-4D97-AF65-F5344CB8AC3E}">
        <p14:creationId xmlns:p14="http://schemas.microsoft.com/office/powerpoint/2010/main" val="12117190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D6B1D-7E23-4241-9DA0-8AD2B03A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A43"/>
                </a:solidFill>
                <a:latin typeface="Arial"/>
                <a:ea typeface="Arial"/>
                <a:cs typeface="Arial"/>
              </a:rPr>
              <a:t>Customer segmentation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C09E9-8537-4661-99C4-99D9C5CD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All observed purchases through 31 August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B2AE9-1E45-4CCA-9124-784B1384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Customer 360  /  DS-001  /  Synthetic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E7053-D13A-42A4-BC19-E4BAEEE8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714375" y="2238375"/>
          <a:ext xmlns:a="http://schemas.openxmlformats.org/drawingml/2006/main" cx="7048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1389fffd19462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81865-EE0F-4A8C-9F4F-83F5040C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982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A43"/>
                </a:solidFill>
                <a:latin typeface="Arial"/>
                <a:ea typeface="Arial"/>
                <a:cs typeface="Arial"/>
              </a:rPr>
              <a:t>Fixed RFM thresholds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88682-8AFE-4B6A-A828-FF11FDCA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Recency, frequency and monetary scores explain each profile.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B01FD-34E5-49EC-8C28-E387229F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6245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More than 90 inactive days is a churn proxy. Annualized gross profit is a value proxy.</a:t>
            </a:r>
          </a:p>
        </p:txBody>
      </p:sp>
    </p:spTree>
    <p:extLst>
      <p:ext uri="{BB962C8B-B14F-4D97-AF65-F5344CB8AC3E}">
        <p14:creationId xmlns:p14="http://schemas.microsoft.com/office/powerpoint/2010/main" val="16661009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4A478-842D-4604-BC05-68817F0D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A43"/>
                </a:solidFill>
                <a:latin typeface="Arial"/>
                <a:ea typeface="Arial"/>
                <a:cs typeface="Arial"/>
              </a:rPr>
              <a:t>Analytical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3D9F9-0B2F-4051-BB83-82FBFCBD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Explicit units, baselines and limitations support interpretation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FBFE1-37C5-4A52-9DEB-F1EA7DE2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Customer 360  /  DS-001  /  Synthetic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E416F-DDBA-46D5-B785-CD443C35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E9D67-23A7-4827-A864-CAA5AF8D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6C680-9AE2-4DE6-8808-D84F8963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4312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A43"/>
                </a:solidFill>
                <a:latin typeface="Arial"/>
                <a:ea typeface="Arial"/>
                <a:cs typeface="Arial"/>
              </a:rPr>
              <a:t>Retention and marketing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D0BC0-40E9-4CAF-BBC5-C7AE0D48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479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Buyer-set retention, mature purchase cohorts and campaign-level economics.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93F2B-5F90-4394-8703-3BB3DFCA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C09F2-4508-453B-85D6-7B751E8F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813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A43"/>
                </a:solidFill>
                <a:latin typeface="Arial"/>
                <a:ea typeface="Arial"/>
                <a:cs typeface="Arial"/>
              </a:rPr>
              <a:t>Exploratory statistics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9BC11-F5B3-4A20-B77C-FDC5172A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86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Buyer-level Welch tests, Spearman correlations and median/MAD anomaly flags.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19AE0-3E1D-4050-B724-709D0CA8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741106-AABF-462A-999B-C9404667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1962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A43"/>
                </a:solidFill>
                <a:latin typeface="Arial"/>
                <a:ea typeface="Arial"/>
                <a:cs typeface="Arial"/>
              </a:rPr>
              <a:t>Forecast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24E113-405C-43B4-821E-CD03F4B8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244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Three-month holdout. Selected model: Last-month baseline. Approximate residual bands.</a:t>
            </a:r>
          </a:p>
        </p:txBody>
      </p:sp>
    </p:spTree>
    <p:extLst>
      <p:ext uri="{BB962C8B-B14F-4D97-AF65-F5344CB8AC3E}">
        <p14:creationId xmlns:p14="http://schemas.microsoft.com/office/powerpoint/2010/main" val="13326445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23728-60D6-47A0-8651-95AA1B6C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A43"/>
                </a:solidFill>
                <a:latin typeface="Arial"/>
                <a:ea typeface="Arial"/>
                <a:cs typeface="Arial"/>
              </a:rPr>
              <a:t>Access and capacity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5BF04-FE8C-41E5-883D-2C1BACC7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The tested local implementation is separate from the enterprise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4BC84-592C-42C4-B6BA-4EB84A93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Customer 360  /  DS-001  /  Synthetic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5E02C-A1B7-4C20-8FDA-A0FB8FFA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77617-2911-45F1-B153-96427E4A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Local controls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C2BA8-4FAC-4FEA-A27A-AA478733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4762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A43"/>
                </a:solidFill>
                <a:latin typeface="Arial"/>
                <a:ea typeface="Arial"/>
                <a:cs typeface="Arial"/>
              </a:rPr>
              <a:t>Viewer, analyst and admin roles</a:t>
            </a:r>
          </a:p>
          <a:p xmlns:a="http://schemas.openxmlformats.org/drawingml/2006/main">
            <a:pPr>
              <a:defRPr sz="2175" b="0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A43"/>
                </a:solidFill>
                <a:latin typeface="Arial"/>
                <a:ea typeface="Arial"/>
                <a:cs typeface="Arial"/>
              </a:rPr>
              <a:t>Salted password hashes</a:t>
            </a:r>
          </a:p>
          <a:p xmlns:a="http://schemas.openxmlformats.org/drawingml/2006/main">
            <a:pPr>
              <a:defRPr sz="2175" b="0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A43"/>
                </a:solidFill>
                <a:latin typeface="Arial"/>
                <a:ea typeface="Arial"/>
                <a:cs typeface="Arial"/>
              </a:rPr>
              <a:t>Guarded real-data mode</a:t>
            </a:r>
          </a:p>
          <a:p xmlns:a="http://schemas.openxmlformats.org/drawingml/2006/main">
            <a:pPr>
              <a:defRPr sz="2175" b="0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A43"/>
                </a:solidFill>
                <a:latin typeface="Arial"/>
                <a:ea typeface="Arial"/>
                <a:cs typeface="Arial"/>
              </a:rPr>
              <a:t>Loopback-only default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F3271-336A-4A2D-B834-743AA245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Deployment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9F85E-AE8F-4AF9-9FED-055DC92B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4762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A43"/>
                </a:solidFill>
                <a:latin typeface="Arial"/>
                <a:ea typeface="Arial"/>
                <a:cs typeface="Arial"/>
              </a:rPr>
              <a:t>SSO, TLS and audit integration</a:t>
            </a:r>
          </a:p>
          <a:p xmlns:a="http://schemas.openxmlformats.org/drawingml/2006/main">
            <a:pPr>
              <a:defRPr sz="2175" b="0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A43"/>
                </a:solidFill>
                <a:latin typeface="Arial"/>
                <a:ea typeface="Arial"/>
                <a:cs typeface="Arial"/>
              </a:rPr>
              <a:t>Incremental partitioned ingestion</a:t>
            </a:r>
          </a:p>
          <a:p xmlns:a="http://schemas.openxmlformats.org/drawingml/2006/main">
            <a:pPr>
              <a:defRPr sz="2175" b="0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A43"/>
                </a:solidFill>
                <a:latin typeface="Arial"/>
                <a:ea typeface="Arial"/>
                <a:cs typeface="Arial"/>
              </a:rPr>
              <a:t>Region-level authorization</a:t>
            </a:r>
          </a:p>
          <a:p xmlns:a="http://schemas.openxmlformats.org/drawingml/2006/main">
            <a:pPr>
              <a:defRPr sz="2175" b="0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A43"/>
                </a:solidFill>
                <a:latin typeface="Arial"/>
                <a:ea typeface="Arial"/>
                <a:cs typeface="Arial"/>
              </a:rPr>
              <a:t>500M-record and concurrency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19C41A-0D8D-47AB-81DA-B4CA0371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Measured locally: 33,877 valid sales rows. Median KPI query 40 ms across five sequential runs.</a:t>
            </a:r>
          </a:p>
        </p:txBody>
      </p:sp>
    </p:spTree>
    <p:extLst>
      <p:ext uri="{BB962C8B-B14F-4D97-AF65-F5344CB8AC3E}">
        <p14:creationId xmlns:p14="http://schemas.microsoft.com/office/powerpoint/2010/main" val="1216592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9E518-E762-4E2E-857A-5390E142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A43"/>
                </a:solidFill>
                <a:latin typeface="Arial"/>
                <a:ea typeface="Arial"/>
                <a:cs typeface="Arial"/>
              </a:rPr>
              <a:t>Live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BEE43-4957-40FC-AECB-24C38338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The repository includes the application, reports and operating instructions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61302-57AA-4922-90B5-70DB900E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Customer 360  /  DS-001  /  Synthetic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962CD-9D84-4D13-9036-1967A7D9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509D8-5A42-473E-8BF2-52ED421A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F8B13-FFDA-4A9B-84B5-53112289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4312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A43"/>
                </a:solidFill>
                <a:latin typeface="Arial"/>
                <a:ea typeface="Arial"/>
                <a:cs typeface="Arial"/>
              </a:rPr>
              <a:t>Explore the 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368C3A-C0B5-44B9-BFBA-73F56D5A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479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Filter sales, open a customer profile and compare product or branch performance.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DD4BB-35E3-4FE3-908C-EAE80B6D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F8F42-582E-4182-9A37-FFD84385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813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A43"/>
                </a:solidFill>
                <a:latin typeface="Arial"/>
                <a:ea typeface="Arial"/>
                <a:cs typeface="Arial"/>
              </a:rPr>
              <a:t>Review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7CB88-29F7-4412-B977-87558B2A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86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Inspect campaign scope, forecast diagnostics, data quality and source provenance.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56883-97D8-4C5A-8C9B-4D0960FC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034185-F521-4C73-A77F-D4BBE23B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1962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A43"/>
                </a:solidFill>
                <a:latin typeface="Arial"/>
                <a:ea typeface="Arial"/>
                <a:cs typeface="Arial"/>
              </a:rPr>
              <a:t>Generate the handover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5AA1A-AC27-4508-A36C-D3F2E6E6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244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162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1627A"/>
                </a:solidFill>
                <a:latin typeface="Arial"/>
                <a:ea typeface="Arial"/>
                <a:cs typeface="Arial"/>
              </a:rPr>
              <a:t>Download executive PDFs and scoped CSVs. Rebuild the demo from the seed.</a:t>
            </a:r>
          </a:p>
        </p:txBody>
      </p:sp>
    </p:spTree>
    <p:extLst>
      <p:ext uri="{BB962C8B-B14F-4D97-AF65-F5344CB8AC3E}">
        <p14:creationId xmlns:p14="http://schemas.microsoft.com/office/powerpoint/2010/main" val="14994537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2026-09-29T06:49:48.5180000Z</dcterms:created>
  <dcterms:modified xsi:type="dcterms:W3CDTF">2026-09-29T06:49:48.5180000Z</dcterms:modified>
</coreProperties>
</file>